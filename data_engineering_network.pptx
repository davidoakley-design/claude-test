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1F5F9"/>
                </a:solidFill>
              </a:defRPr>
            </a:pPr>
            <a:r>
              <a:t>Data Engineering</a:t>
            </a:r>
          </a:p>
          <a:p>
            <a:pPr algn="ctr">
              <a:defRPr sz="5200" b="1">
                <a:solidFill>
                  <a:srgbClr val="6366F1"/>
                </a:solidFill>
              </a:defRPr>
            </a:pPr>
            <a:r>
              <a:t>Team Network</a:t>
            </a:r>
          </a:p>
          <a:p>
            <a:pPr algn="ctr"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Interactive Organization Map</a:t>
            </a:r>
          </a:p>
        </p:txBody>
      </p:sp>
      <p:sp>
        <p:nvSpPr>
          <p:cNvPr id="3" name="Oval 2"/>
          <p:cNvSpPr/>
          <p:nvPr/>
        </p:nvSpPr>
        <p:spPr>
          <a:xfrm>
            <a:off x="9111186" y="4892040"/>
            <a:ext cx="1097280" cy="1097280"/>
          </a:xfrm>
          <a:prstGeom prst="ellipse">
            <a:avLst/>
          </a:prstGeom>
          <a:gradFill rotWithShape="1">
            <a:gsLst>
              <a:gs pos="0">
                <a:srgbClr val="E45D99"/>
              </a:gs>
              <a:gs pos="100000">
                <a:srgbClr val="DB277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17250" y="4800600"/>
            <a:ext cx="822960" cy="822960"/>
          </a:xfrm>
          <a:prstGeom prst="ellipse">
            <a:avLst/>
          </a:prstGeom>
          <a:gradFill rotWithShape="1">
            <a:gsLst>
              <a:gs pos="0">
                <a:srgbClr val="43B08E"/>
              </a:gs>
              <a:gs pos="100000">
                <a:srgbClr val="0596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14003" y="241968"/>
            <a:ext cx="640080" cy="640080"/>
          </a:xfrm>
          <a:prstGeom prst="ellipse">
            <a:avLst/>
          </a:prstGeom>
          <a:gradFill rotWithShape="1">
            <a:gsLst>
              <a:gs pos="0">
                <a:srgbClr val="5B8AF0"/>
              </a:gs>
              <a:gs pos="100000">
                <a:srgbClr val="2563E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00894" y="692573"/>
            <a:ext cx="914400" cy="914400"/>
          </a:xfrm>
          <a:prstGeom prst="ellipse">
            <a:avLst/>
          </a:prstGeom>
          <a:gradFill rotWithShape="1">
            <a:gsLst>
              <a:gs pos="0">
                <a:srgbClr val="49AEA5"/>
              </a:gs>
              <a:gs pos="100000">
                <a:srgbClr val="0D9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77728" y="6260738"/>
            <a:ext cx="548640" cy="548640"/>
          </a:xfrm>
          <a:prstGeom prst="ellipse">
            <a:avLst/>
          </a:prstGeom>
          <a:gradFill rotWithShape="1">
            <a:gsLst>
              <a:gs pos="0">
                <a:srgbClr val="AE66EF"/>
              </a:gs>
              <a:gs pos="100000">
                <a:srgbClr val="9333E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30544" y="-822960"/>
            <a:ext cx="731520" cy="731520"/>
          </a:xfrm>
          <a:prstGeom prst="ellipse">
            <a:avLst/>
          </a:prstGeom>
          <a:gradFill rotWithShape="1">
            <a:gsLst>
              <a:gs pos="0">
                <a:srgbClr val="E29944"/>
              </a:gs>
              <a:gs pos="100000">
                <a:srgbClr val="D9770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Data Engineering Team Network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Click any team node to see details</a:t>
            </a:r>
          </a:p>
        </p:txBody>
      </p:sp>
      <p:cxnSp>
        <p:nvCxnSpPr>
          <p:cNvPr id="3" name="Connector 2"/>
          <p:cNvCxnSpPr/>
          <p:nvPr/>
        </p:nvCxnSpPr>
        <p:spPr>
          <a:xfrm flipH="1" flipV="1">
            <a:off x="5345721" y="1778268"/>
            <a:ext cx="750583" cy="2062212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096304" y="3840480"/>
            <a:ext cx="1469413" cy="1751177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3862241" y="3027347"/>
            <a:ext cx="2234063" cy="813133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304" y="3840480"/>
            <a:ext cx="2405914" cy="875681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776316" y="3840480"/>
            <a:ext cx="2319988" cy="844406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189349" y="3840480"/>
            <a:ext cx="906955" cy="2491839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096304" y="1692342"/>
            <a:ext cx="781858" cy="2148138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96304" y="2902250"/>
            <a:ext cx="2577765" cy="938230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6304" y="3840480"/>
            <a:ext cx="492230" cy="2791575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333009" y="1739066"/>
            <a:ext cx="1763295" cy="2101414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096304" y="2288691"/>
            <a:ext cx="1551789" cy="1551789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994891" y="3840480"/>
            <a:ext cx="2101413" cy="1763294"/>
          </a:xfrm>
          <a:prstGeom prst="line">
            <a:avLst/>
          </a:prstGeom>
          <a:ln w="15240">
            <a:solidFill>
              <a:srgbClr val="3340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hlinkClick r:id="rId2" action="ppaction://hlinksldjump"/>
          </p:cNvPr>
          <p:cNvSpPr/>
          <p:nvPr/>
        </p:nvSpPr>
        <p:spPr>
          <a:xfrm>
            <a:off x="5255056" y="2999232"/>
            <a:ext cx="1682496" cy="1682496"/>
          </a:xfrm>
          <a:prstGeom prst="ellipse">
            <a:avLst/>
          </a:prstGeom>
          <a:gradFill rotWithShape="1">
            <a:gsLst>
              <a:gs pos="0">
                <a:srgbClr val="8A8CF4"/>
              </a:gs>
              <a:gs pos="100000">
                <a:srgbClr val="6366F1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Core 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Engineering</a:t>
            </a:r>
          </a:p>
          <a:p>
            <a:pPr algn="ctr"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16" name="Oval 15">
            <a:hlinkClick r:id="rId3" action="ppaction://hlinksldjump"/>
          </p:cNvPr>
          <p:cNvSpPr/>
          <p:nvPr/>
        </p:nvSpPr>
        <p:spPr>
          <a:xfrm>
            <a:off x="4687353" y="1119900"/>
            <a:ext cx="1316736" cy="1316736"/>
          </a:xfrm>
          <a:prstGeom prst="ellipse">
            <a:avLst/>
          </a:prstGeom>
          <a:gradFill rotWithShape="1">
            <a:gsLst>
              <a:gs pos="0">
                <a:srgbClr val="E45D99"/>
              </a:gs>
              <a:gs pos="100000">
                <a:srgbClr val="DB2777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ML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Engineering</a:t>
            </a:r>
          </a:p>
          <a:p>
            <a:pPr algn="ctr"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7" name="Oval 16">
            <a:hlinkClick r:id="rId4" action="ppaction://hlinksldjump"/>
          </p:cNvPr>
          <p:cNvSpPr/>
          <p:nvPr/>
        </p:nvSpPr>
        <p:spPr>
          <a:xfrm>
            <a:off x="6980501" y="5006441"/>
            <a:ext cx="1170432" cy="1170432"/>
          </a:xfrm>
          <a:prstGeom prst="ellipse">
            <a:avLst/>
          </a:prstGeom>
          <a:gradFill rotWithShape="1">
            <a:gsLst>
              <a:gs pos="0">
                <a:srgbClr val="43B08E"/>
              </a:gs>
              <a:gs pos="100000">
                <a:srgbClr val="05966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Product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pPr algn="ctr"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8" name="Oval 17">
            <a:hlinkClick r:id="rId5" action="ppaction://hlinksldjump"/>
          </p:cNvPr>
          <p:cNvSpPr/>
          <p:nvPr/>
        </p:nvSpPr>
        <p:spPr>
          <a:xfrm>
            <a:off x="3313601" y="2478707"/>
            <a:ext cx="1097280" cy="1097280"/>
          </a:xfrm>
          <a:prstGeom prst="ellipse">
            <a:avLst/>
          </a:prstGeom>
          <a:gradFill rotWithShape="1">
            <a:gsLst>
              <a:gs pos="0">
                <a:srgbClr val="5B8AF0"/>
              </a:gs>
              <a:gs pos="100000">
                <a:srgbClr val="2563EB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Science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9" name="Oval 18">
            <a:hlinkClick r:id="rId6" action="ppaction://hlinksldjump"/>
          </p:cNvPr>
          <p:cNvSpPr/>
          <p:nvPr/>
        </p:nvSpPr>
        <p:spPr>
          <a:xfrm>
            <a:off x="7990154" y="4204097"/>
            <a:ext cx="1024128" cy="1024128"/>
          </a:xfrm>
          <a:prstGeom prst="ellipse">
            <a:avLst/>
          </a:prstGeom>
          <a:gradFill rotWithShape="1">
            <a:gsLst>
              <a:gs pos="0">
                <a:srgbClr val="EF8148"/>
              </a:gs>
              <a:gs pos="100000">
                <a:srgbClr val="EA580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Marketing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0" name="Oval 19">
            <a:hlinkClick r:id="rId7" action="ppaction://hlinksldjump"/>
          </p:cNvPr>
          <p:cNvSpPr/>
          <p:nvPr/>
        </p:nvSpPr>
        <p:spPr>
          <a:xfrm>
            <a:off x="3282540" y="4191110"/>
            <a:ext cx="987552" cy="987552"/>
          </a:xfrm>
          <a:prstGeom prst="ellipse">
            <a:avLst/>
          </a:prstGeom>
          <a:gradFill rotWithShape="1">
            <a:gsLst>
              <a:gs pos="0">
                <a:srgbClr val="9C6BF1"/>
              </a:gs>
              <a:gs pos="100000">
                <a:srgbClr val="7C3AED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Platform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Engineering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1" name="Oval 20">
            <a:hlinkClick r:id="rId8" action="ppaction://hlinksldjump"/>
          </p:cNvPr>
          <p:cNvSpPr/>
          <p:nvPr/>
        </p:nvSpPr>
        <p:spPr>
          <a:xfrm>
            <a:off x="4713861" y="5856831"/>
            <a:ext cx="950976" cy="950976"/>
          </a:xfrm>
          <a:prstGeom prst="ellipse">
            <a:avLst/>
          </a:prstGeom>
          <a:gradFill rotWithShape="1">
            <a:gsLst>
              <a:gs pos="0">
                <a:srgbClr val="49AEA5"/>
              </a:gs>
              <a:gs pos="100000">
                <a:srgbClr val="0D948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Success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2" name="Oval 21">
            <a:hlinkClick r:id="rId9" action="ppaction://hlinksldjump"/>
          </p:cNvPr>
          <p:cNvSpPr/>
          <p:nvPr/>
        </p:nvSpPr>
        <p:spPr>
          <a:xfrm>
            <a:off x="6420962" y="1235142"/>
            <a:ext cx="914400" cy="914400"/>
          </a:xfrm>
          <a:prstGeom prst="ellipse">
            <a:avLst/>
          </a:prstGeom>
          <a:gradFill rotWithShape="1">
            <a:gsLst>
              <a:gs pos="0">
                <a:srgbClr val="E29944"/>
              </a:gs>
              <a:gs pos="100000">
                <a:srgbClr val="D9770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DevOps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3" name="Oval 22">
            <a:hlinkClick r:id="rId10" action="ppaction://hlinksldjump"/>
          </p:cNvPr>
          <p:cNvSpPr/>
          <p:nvPr/>
        </p:nvSpPr>
        <p:spPr>
          <a:xfrm>
            <a:off x="8253445" y="2481626"/>
            <a:ext cx="841248" cy="841248"/>
          </a:xfrm>
          <a:prstGeom prst="ellipse">
            <a:avLst/>
          </a:prstGeom>
          <a:gradFill rotWithShape="1">
            <a:gsLst>
              <a:gs pos="0">
                <a:srgbClr val="E45C5C"/>
              </a:gs>
              <a:gs pos="100000">
                <a:srgbClr val="DC262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Sales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4" name="Oval 23">
            <a:hlinkClick r:id="rId11" action="ppaction://hlinksldjump"/>
          </p:cNvPr>
          <p:cNvSpPr/>
          <p:nvPr/>
        </p:nvSpPr>
        <p:spPr>
          <a:xfrm>
            <a:off x="6186198" y="6229719"/>
            <a:ext cx="804672" cy="804672"/>
          </a:xfrm>
          <a:prstGeom prst="ellipse">
            <a:avLst/>
          </a:prstGeom>
          <a:gradFill rotWithShape="1">
            <a:gsLst>
              <a:gs pos="0">
                <a:srgbClr val="50BA77"/>
              </a:gs>
              <a:gs pos="100000">
                <a:srgbClr val="16A34A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Supply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Chain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Oval 24">
            <a:hlinkClick r:id="rId12" action="ppaction://hlinksldjump"/>
          </p:cNvPr>
          <p:cNvSpPr/>
          <p:nvPr/>
        </p:nvSpPr>
        <p:spPr>
          <a:xfrm>
            <a:off x="3948961" y="1355018"/>
            <a:ext cx="768096" cy="768096"/>
          </a:xfrm>
          <a:prstGeom prst="ellipse">
            <a:avLst/>
          </a:prstGeom>
          <a:gradFill rotWithShape="1">
            <a:gsLst>
              <a:gs pos="0">
                <a:srgbClr val="AE66EF"/>
              </a:gs>
              <a:gs pos="100000">
                <a:srgbClr val="9333EA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Finance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Oval 25">
            <a:hlinkClick r:id="rId13" action="ppaction://hlinksldjump"/>
          </p:cNvPr>
          <p:cNvSpPr/>
          <p:nvPr/>
        </p:nvSpPr>
        <p:spPr>
          <a:xfrm>
            <a:off x="7300621" y="1941219"/>
            <a:ext cx="694944" cy="694944"/>
          </a:xfrm>
          <a:prstGeom prst="ellipse">
            <a:avLst/>
          </a:prstGeom>
          <a:gradFill rotWithShape="1">
            <a:gsLst>
              <a:gs pos="0">
                <a:srgbClr val="757F8E"/>
              </a:gs>
              <a:gs pos="100000">
                <a:srgbClr val="47556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Risk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Compliance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Oval 26">
            <a:hlinkClick r:id="rId14" action="ppaction://hlinksldjump"/>
          </p:cNvPr>
          <p:cNvSpPr/>
          <p:nvPr/>
        </p:nvSpPr>
        <p:spPr>
          <a:xfrm>
            <a:off x="3665707" y="5274590"/>
            <a:ext cx="658368" cy="658368"/>
          </a:xfrm>
          <a:prstGeom prst="ellipse">
            <a:avLst/>
          </a:prstGeom>
          <a:gradFill rotWithShape="1">
            <a:gsLst>
              <a:gs pos="0">
                <a:srgbClr val="F075B2"/>
              </a:gs>
              <a:gs pos="100000">
                <a:srgbClr val="EC489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HR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pPr algn="ctr">
              <a:spcBef>
                <a:spcPts val="200"/>
              </a:spcBef>
              <a:defRPr sz="8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8A8CF4"/>
              </a:gs>
              <a:gs pos="100000">
                <a:srgbClr val="6366F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Core Data Engineering</a:t>
            </a:r>
          </a:p>
          <a:p>
            <a:pPr>
              <a:spcBef>
                <a:spcPts val="800"/>
              </a:spcBef>
              <a:defRPr sz="1800">
                <a:solidFill>
                  <a:srgbClr val="A1A3F6"/>
                </a:solidFill>
              </a:defRPr>
            </a:pPr>
            <a:r>
              <a:t>22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Central hub for all data pipelines &amp; infrastructure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E45D99"/>
              </a:gs>
              <a:gs pos="100000">
                <a:srgbClr val="DB277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ML Engineering</a:t>
            </a:r>
          </a:p>
          <a:p>
            <a:pPr>
              <a:spcBef>
                <a:spcPts val="800"/>
              </a:spcBef>
              <a:defRPr sz="1800">
                <a:solidFill>
                  <a:srgbClr val="E97DAD"/>
                </a:solidFill>
              </a:defRPr>
            </a:pPr>
            <a:r>
              <a:t>18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Building and deploying ML models at scale, MLOps pipelines &amp; feature stores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43B08E"/>
              </a:gs>
              <a:gs pos="100000">
                <a:srgbClr val="0596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Product Analytics</a:t>
            </a:r>
          </a:p>
          <a:p>
            <a:pPr>
              <a:spcBef>
                <a:spcPts val="800"/>
              </a:spcBef>
              <a:defRPr sz="1800">
                <a:solidFill>
                  <a:srgbClr val="69C0A5"/>
                </a:solidFill>
              </a:defRPr>
            </a:pPr>
            <a:r>
              <a:t>15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Driving product decisions through A/B testing, funnel analysis &amp; user behavior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5B8AF0"/>
              </a:gs>
              <a:gs pos="100000">
                <a:srgbClr val="2563E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Data Science</a:t>
            </a:r>
          </a:p>
          <a:p>
            <a:pPr>
              <a:spcBef>
                <a:spcPts val="800"/>
              </a:spcBef>
              <a:defRPr sz="1800">
                <a:solidFill>
                  <a:srgbClr val="7CA1F3"/>
                </a:solidFill>
              </a:defRPr>
            </a:pPr>
            <a:r>
              <a:t>14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Advanced statistical modeling, forecasting &amp; deep business insights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EF8148"/>
              </a:gs>
              <a:gs pos="100000">
                <a:srgbClr val="EA580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Marketing Data</a:t>
            </a:r>
          </a:p>
          <a:p>
            <a:pPr>
              <a:spcBef>
                <a:spcPts val="800"/>
              </a:spcBef>
              <a:defRPr sz="1800">
                <a:solidFill>
                  <a:srgbClr val="F29A6D"/>
                </a:solidFill>
              </a:defRPr>
            </a:pPr>
            <a:r>
              <a:t>12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Attribution modeling, campaign analytics &amp; marketing performance optimization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9C6BF1"/>
              </a:gs>
              <a:gs pos="100000">
                <a:srgbClr val="7C3AE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Platform Engineering</a:t>
            </a:r>
          </a:p>
          <a:p>
            <a:pPr>
              <a:spcBef>
                <a:spcPts val="800"/>
              </a:spcBef>
              <a:defRPr sz="1800">
                <a:solidFill>
                  <a:srgbClr val="B088F4"/>
                </a:solidFill>
              </a:defRPr>
            </a:pPr>
            <a:r>
              <a:t>11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Cloud infrastructure, data platform tooling &amp; developer experience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49AEA5"/>
              </a:gs>
              <a:gs pos="100000">
                <a:srgbClr val="0D9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Customer Success</a:t>
            </a:r>
          </a:p>
          <a:p>
            <a:pPr>
              <a:spcBef>
                <a:spcPts val="800"/>
              </a:spcBef>
              <a:defRPr sz="1800">
                <a:solidFill>
                  <a:srgbClr val="6DBEB7"/>
                </a:solidFill>
              </a:defRPr>
            </a:pPr>
            <a:r>
              <a:t>10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Customer health scoring, churn prediction &amp; success metrics tracking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E29944"/>
              </a:gs>
              <a:gs pos="100000">
                <a:srgbClr val="D9770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DevOps Data</a:t>
            </a:r>
          </a:p>
          <a:p>
            <a:pPr>
              <a:spcBef>
                <a:spcPts val="800"/>
              </a:spcBef>
              <a:defRPr sz="1800">
                <a:solidFill>
                  <a:srgbClr val="E8AD69"/>
                </a:solidFill>
              </a:defRPr>
            </a:pPr>
            <a:r>
              <a:t>9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CI/CD for data pipelines, monitoring, observability &amp; reliability engineering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E45C5C"/>
              </a:gs>
              <a:gs pos="100000">
                <a:srgbClr val="DC262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Sales Analytics</a:t>
            </a:r>
          </a:p>
          <a:p>
            <a:pPr>
              <a:spcBef>
                <a:spcPts val="800"/>
              </a:spcBef>
              <a:defRPr sz="1800">
                <a:solidFill>
                  <a:srgbClr val="EA7C7C"/>
                </a:solidFill>
              </a:defRPr>
            </a:pPr>
            <a:r>
              <a:t>8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Revenue analytics, sales forecasting, pipeline optimization &amp; CRM data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50BA77"/>
              </a:gs>
              <a:gs pos="100000">
                <a:srgbClr val="16A34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Supply Chain</a:t>
            </a:r>
          </a:p>
          <a:p>
            <a:pPr>
              <a:spcBef>
                <a:spcPts val="800"/>
              </a:spcBef>
              <a:defRPr sz="1800">
                <a:solidFill>
                  <a:srgbClr val="73C792"/>
                </a:solidFill>
              </a:defRPr>
            </a:pPr>
            <a:r>
              <a:t>7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Supply chain optimization, demand forecasting &amp; logistics analytics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AE66EF"/>
              </a:gs>
              <a:gs pos="100000">
                <a:srgbClr val="9333E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Finance Data</a:t>
            </a:r>
          </a:p>
          <a:p>
            <a:pPr>
              <a:spcBef>
                <a:spcPts val="800"/>
              </a:spcBef>
              <a:defRPr sz="1800">
                <a:solidFill>
                  <a:srgbClr val="BE84F2"/>
                </a:solidFill>
              </a:defRPr>
            </a:pPr>
            <a:r>
              <a:t>6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Financial reporting automation, budget analytics &amp; revenue recognition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757F8E"/>
              </a:gs>
              <a:gs pos="100000">
                <a:srgbClr val="4755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Risk &amp; Compliance</a:t>
            </a:r>
          </a:p>
          <a:p>
            <a:pPr>
              <a:spcBef>
                <a:spcPts val="800"/>
              </a:spcBef>
              <a:defRPr sz="1800">
                <a:solidFill>
                  <a:srgbClr val="9099A5"/>
                </a:solidFill>
              </a:defRPr>
            </a:pPr>
            <a:r>
              <a:t>5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Data governance, regulatory compliance, privacy engineering &amp; risk assessment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731520"/>
            <a:ext cx="841248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097280"/>
            <a:ext cx="1645920" cy="1645920"/>
          </a:xfrm>
          <a:prstGeom prst="ellipse">
            <a:avLst/>
          </a:prstGeom>
          <a:gradFill rotWithShape="1">
            <a:gsLst>
              <a:gs pos="0">
                <a:srgbClr val="F075B2"/>
              </a:gs>
              <a:gs pos="100000">
                <a:srgbClr val="EC48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HR Analytics</a:t>
            </a:r>
          </a:p>
          <a:p>
            <a:pPr>
              <a:spcBef>
                <a:spcPts val="800"/>
              </a:spcBef>
              <a:defRPr sz="1800">
                <a:solidFill>
                  <a:srgbClr val="F391C1"/>
                </a:solidFill>
              </a:defRPr>
            </a:pPr>
            <a:r>
              <a:t>4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1600">
                <a:solidFill>
                  <a:srgbClr val="94A3B8"/>
                </a:solidFill>
              </a:defRPr>
            </a:pPr>
            <a:r>
              <a:t>People analytics, workforce planning &amp; employee experience measurement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731520" y="5669280"/>
            <a:ext cx="201168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←  Back to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</a:defRPr>
            </a:pPr>
            <a:r>
              <a:t>141 Data Professionals</a:t>
            </a:r>
          </a:p>
          <a:p>
            <a:pPr algn="ctr">
              <a:spcBef>
                <a:spcPts val="800"/>
              </a:spcBef>
              <a:defRPr sz="2000">
                <a:solidFill>
                  <a:srgbClr val="94A3B8"/>
                </a:solidFill>
              </a:defRPr>
            </a:pPr>
            <a:r>
              <a:t>Across 13 specialized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29487" y="292608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2367" y="3310128"/>
            <a:ext cx="201168" cy="20116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32407" y="310896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Core Data Engineering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22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247" y="292608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64127" y="3310128"/>
            <a:ext cx="201168" cy="20116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4167" y="310896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ML Engineering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18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92608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5887" y="3310128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5927" y="310896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Product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15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84767" y="292608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67647" y="3310128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7687" y="310896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Data Science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14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487" y="425196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2367" y="4636008"/>
            <a:ext cx="201168" cy="2011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2407" y="443484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Marketing Data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12 members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1247" y="425196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64127" y="4636008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4167" y="443484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Platform Engineering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11 members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25196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5887" y="4636008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5927" y="443484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Customer Success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10 members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4767" y="425196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67647" y="4636008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7687" y="443484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DevOps Data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9 members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487" y="557784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2367" y="5961888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32407" y="57607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Sales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8 members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81247" y="557784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64127" y="5961888"/>
            <a:ext cx="201168" cy="20116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4167" y="57607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Supply Chain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7 members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3007" y="557784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15887" y="5961888"/>
            <a:ext cx="201168" cy="201168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5927" y="57607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Finance Data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6 members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84767" y="557784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67647" y="5961888"/>
            <a:ext cx="201168" cy="201168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87687" y="57607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Risk &amp; Compliance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5 members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9487" y="6903720"/>
            <a:ext cx="23774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2367" y="7287768"/>
            <a:ext cx="201168" cy="20116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32407" y="708660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1F5F9"/>
                </a:solidFill>
              </a:defRPr>
            </a:pPr>
            <a:r>
              <a:t>HR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